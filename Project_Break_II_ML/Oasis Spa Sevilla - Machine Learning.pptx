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4" r:id="rId11"/>
    <p:sldId id="270" r:id="rId12"/>
    <p:sldId id="265" r:id="rId13"/>
    <p:sldId id="266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8A9284-708C-44D1-85E6-D911788DEFB8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C02EDB-5A72-429F-821F-D68CF86CC93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6922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02EDB-5A72-429F-821F-D68CF86CC93C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4800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62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466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701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103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30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306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050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82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902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84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91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3959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42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501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64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685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320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1329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6194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00650" y="1831181"/>
            <a:ext cx="559069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C5A059"/>
                </a:solidFill>
                <a:latin typeface="Montserrat"/>
              </a:rPr>
              <a:t>PROYECTO DE ANALÍTICA PREDICTIVA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95612" y="2135981"/>
            <a:ext cx="6200775" cy="1019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1A2A3A"/>
                </a:solidFill>
                <a:latin typeface="Playfair Display"/>
              </a:rPr>
              <a:t>Oasis Spa Sevilla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4950" y="3402806"/>
            <a:ext cx="91821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sz="1950" b="0" i="0" u="none">
                <a:solidFill>
                  <a:srgbClr val="64748B"/>
                </a:solidFill>
                <a:latin typeface="Montserrat Light"/>
              </a:rPr>
              <a:t>Optimización de demanda por tramo horario mediante Machine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19750" y="4498181"/>
            <a:ext cx="952500" cy="3810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00600" y="4822031"/>
            <a:ext cx="2590800" cy="1055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lang="es-ES" sz="1425" b="1" dirty="0">
                <a:solidFill>
                  <a:srgbClr val="334155"/>
                </a:solidFill>
                <a:latin typeface="Montserrat"/>
              </a:rPr>
              <a:t>M003 – Data </a:t>
            </a:r>
            <a:r>
              <a:rPr lang="es-ES" sz="1425" b="1" dirty="0" err="1">
                <a:solidFill>
                  <a:srgbClr val="334155"/>
                </a:solidFill>
                <a:latin typeface="Montserrat"/>
              </a:rPr>
              <a:t>Science</a:t>
            </a:r>
            <a:r>
              <a:rPr lang="es-ES" sz="1425" b="1" dirty="0">
                <a:solidFill>
                  <a:srgbClr val="334155"/>
                </a:solidFill>
                <a:latin typeface="Montserrat"/>
              </a:rPr>
              <a:t> &amp; IA</a:t>
            </a:r>
          </a:p>
          <a:p>
            <a:pPr algn="ctr">
              <a:lnSpc>
                <a:spcPts val="2137"/>
              </a:lnSpc>
            </a:pPr>
            <a:r>
              <a:rPr lang="es-ES" sz="1425" b="1" i="0" u="none" dirty="0">
                <a:solidFill>
                  <a:srgbClr val="334155"/>
                </a:solidFill>
                <a:latin typeface="Montserrat"/>
              </a:rPr>
              <a:t>Emilio Garrote</a:t>
            </a:r>
          </a:p>
          <a:p>
            <a:pPr algn="ctr">
              <a:lnSpc>
                <a:spcPts val="2137"/>
              </a:lnSpc>
            </a:pPr>
            <a:r>
              <a:rPr lang="es-ES" sz="1425" b="1" dirty="0">
                <a:solidFill>
                  <a:srgbClr val="334155"/>
                </a:solidFill>
                <a:latin typeface="Montserrat"/>
              </a:rPr>
              <a:t>Miguel Coxon</a:t>
            </a:r>
          </a:p>
          <a:p>
            <a:pPr algn="ctr">
              <a:lnSpc>
                <a:spcPts val="2137"/>
              </a:lnSpc>
            </a:pPr>
            <a:r>
              <a:rPr lang="es-ES" sz="1425" b="1" i="0" u="none" dirty="0">
                <a:solidFill>
                  <a:srgbClr val="334155"/>
                </a:solidFill>
                <a:latin typeface="Montserrat"/>
              </a:rPr>
              <a:t>Lola Real</a:t>
            </a:r>
            <a:endParaRPr sz="1425" b="1" i="0" u="none" dirty="0">
              <a:solidFill>
                <a:srgbClr val="334155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8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621631"/>
            <a:ext cx="50958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476250"/>
            <a:ext cx="1120140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 dirty="0">
                <a:solidFill>
                  <a:srgbClr val="1A2A3A"/>
                </a:solidFill>
                <a:latin typeface="Playfair Display"/>
              </a:rPr>
              <a:t>1. </a:t>
            </a:r>
            <a:r>
              <a:rPr sz="3150" b="1" i="0" u="none" dirty="0" err="1">
                <a:solidFill>
                  <a:srgbClr val="1A2A3A"/>
                </a:solidFill>
                <a:latin typeface="Playfair Display"/>
              </a:rPr>
              <a:t>Problema</a:t>
            </a:r>
            <a:r>
              <a:rPr sz="3150" b="1" i="0" u="none" dirty="0">
                <a:solidFill>
                  <a:srgbClr val="1A2A3A"/>
                </a:solidFill>
                <a:latin typeface="Playfair Display"/>
              </a:rPr>
              <a:t> de </a:t>
            </a:r>
            <a:r>
              <a:rPr lang="es-ES" sz="3150" b="1" dirty="0">
                <a:solidFill>
                  <a:srgbClr val="1A2A3A"/>
                </a:solidFill>
                <a:latin typeface="Playfair Display"/>
              </a:rPr>
              <a:t>n</a:t>
            </a:r>
            <a:r>
              <a:rPr sz="3150" b="1" i="0" u="none" dirty="0" err="1">
                <a:solidFill>
                  <a:srgbClr val="1A2A3A"/>
                </a:solidFill>
                <a:latin typeface="Playfair Display"/>
              </a:rPr>
              <a:t>egocio</a:t>
            </a:r>
            <a:r>
              <a:rPr sz="3150" b="1" i="0" u="none" dirty="0">
                <a:solidFill>
                  <a:srgbClr val="1A2A3A"/>
                </a:solidFill>
                <a:latin typeface="Playfair Display"/>
              </a:rPr>
              <a:t> y </a:t>
            </a:r>
            <a:r>
              <a:rPr lang="es-ES" sz="3150" b="1" dirty="0">
                <a:solidFill>
                  <a:srgbClr val="1A2A3A"/>
                </a:solidFill>
                <a:latin typeface="Playfair Display"/>
              </a:rPr>
              <a:t>c</a:t>
            </a:r>
            <a:r>
              <a:rPr sz="3150" b="1" i="0" u="none" dirty="0" err="1">
                <a:solidFill>
                  <a:srgbClr val="1A2A3A"/>
                </a:solidFill>
                <a:latin typeface="Playfair Display"/>
              </a:rPr>
              <a:t>ontexto</a:t>
            </a:r>
            <a:endParaRPr sz="3150" b="1" i="0" u="none" dirty="0">
              <a:solidFill>
                <a:srgbClr val="1A2A3A"/>
              </a:solidFill>
              <a:latin typeface="Playfair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2000" y="1104900"/>
            <a:ext cx="10668000" cy="1905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1869281"/>
            <a:ext cx="535066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C5A059"/>
                </a:solidFill>
                <a:latin typeface="Montserrat"/>
              </a:rPr>
              <a:t>EL DESAFÍO OPERATIVO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355056"/>
            <a:ext cx="5095875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Oasis Spa Sevilla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requiere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una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gestión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eficiente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de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su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personal y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cabinas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. La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incertidumbre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en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la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demanda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provoca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445918"/>
            <a:ext cx="509587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Montserrat"/>
              </a:rPr>
              <a:t>Objetivo:</a:t>
            </a:r>
            <a:r>
              <a:rPr sz="1425" b="0" i="0" u="none">
                <a:solidFill>
                  <a:srgbClr val="334155"/>
                </a:solidFill>
                <a:latin typeface="Montserrat"/>
              </a:rPr>
              <a:t> Predecir el volumen de citas por tramo (Mañana/Tarde) para anticipar necesidades de personal.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" y="3350418"/>
            <a:ext cx="47625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Montserrat"/>
              </a:rPr>
              <a:t>Inestabilidad:</a:t>
            </a:r>
            <a:r>
              <a:rPr sz="1425" b="0" i="0" u="none">
                <a:solidFill>
                  <a:srgbClr val="334155"/>
                </a:solidFill>
                <a:latin typeface="Montserrat"/>
              </a:rPr>
              <a:t> Dificultad para organizar turnos semanales.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4036218"/>
            <a:ext cx="4762500" cy="5164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 dirty="0">
                <a:solidFill>
                  <a:srgbClr val="334155"/>
                </a:solidFill>
                <a:latin typeface="Montserrat"/>
              </a:rPr>
              <a:t>Coste de </a:t>
            </a:r>
            <a:r>
              <a:rPr lang="es-ES" sz="1425" b="1" dirty="0">
                <a:solidFill>
                  <a:srgbClr val="334155"/>
                </a:solidFill>
                <a:latin typeface="Montserrat"/>
              </a:rPr>
              <a:t>o</a:t>
            </a:r>
            <a:r>
              <a:rPr sz="1425" b="1" i="0" u="none" dirty="0" err="1">
                <a:solidFill>
                  <a:srgbClr val="334155"/>
                </a:solidFill>
                <a:latin typeface="Montserrat"/>
              </a:rPr>
              <a:t>portunidad</a:t>
            </a:r>
            <a:r>
              <a:rPr sz="1425" b="1" i="0" u="none" dirty="0">
                <a:solidFill>
                  <a:srgbClr val="334155"/>
                </a:solidFill>
                <a:latin typeface="Montserrat"/>
              </a:rPr>
              <a:t>: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Pérdida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de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clientes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en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horas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punta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4722018"/>
            <a:ext cx="4762500" cy="5164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 dirty="0" err="1">
                <a:solidFill>
                  <a:srgbClr val="334155"/>
                </a:solidFill>
                <a:latin typeface="Montserrat"/>
              </a:rPr>
              <a:t>Ineficiencia</a:t>
            </a:r>
            <a:r>
              <a:rPr sz="1425" b="1" i="0" u="none" dirty="0">
                <a:solidFill>
                  <a:srgbClr val="334155"/>
                </a:solidFill>
                <a:latin typeface="Montserrat"/>
              </a:rPr>
              <a:t> </a:t>
            </a:r>
            <a:r>
              <a:rPr lang="es-ES" sz="1425" b="1" i="0" u="none" dirty="0">
                <a:solidFill>
                  <a:srgbClr val="334155"/>
                </a:solidFill>
                <a:latin typeface="Montserrat"/>
              </a:rPr>
              <a:t>l</a:t>
            </a:r>
            <a:r>
              <a:rPr sz="1425" b="1" i="0" u="none" dirty="0">
                <a:solidFill>
                  <a:srgbClr val="334155"/>
                </a:solidFill>
                <a:latin typeface="Montserrat"/>
              </a:rPr>
              <a:t>aboral: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Exceso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de personal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en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horas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valle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(21% de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mañanas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sin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citas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).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350418"/>
            <a:ext cx="9525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036218"/>
            <a:ext cx="9525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722018"/>
            <a:ext cx="95250" cy="1905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C31B1AA-595F-1CDA-6F84-E01C929B13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5585" y="1267852"/>
            <a:ext cx="4321040" cy="50339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59781"/>
            <a:ext cx="3365450" cy="36718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200" y="2059781"/>
            <a:ext cx="3365450" cy="36718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059781"/>
            <a:ext cx="3365599" cy="36718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476250"/>
            <a:ext cx="1120140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 dirty="0">
                <a:solidFill>
                  <a:srgbClr val="1A2A3A"/>
                </a:solidFill>
                <a:latin typeface="Playfair Display"/>
              </a:rPr>
              <a:t>2. </a:t>
            </a:r>
            <a:r>
              <a:rPr sz="3150" b="1" i="0" u="none" dirty="0" err="1">
                <a:solidFill>
                  <a:srgbClr val="1A2A3A"/>
                </a:solidFill>
                <a:latin typeface="Playfair Display"/>
              </a:rPr>
              <a:t>Planteamiento</a:t>
            </a:r>
            <a:r>
              <a:rPr sz="3150" b="1" i="0" u="none" dirty="0">
                <a:solidFill>
                  <a:srgbClr val="1A2A3A"/>
                </a:solidFill>
                <a:latin typeface="Playfair Display"/>
              </a:rPr>
              <a:t> </a:t>
            </a:r>
            <a:r>
              <a:rPr lang="es-ES" sz="3150" b="1" i="0" u="none" dirty="0">
                <a:solidFill>
                  <a:srgbClr val="1A2A3A"/>
                </a:solidFill>
                <a:latin typeface="Playfair Display"/>
              </a:rPr>
              <a:t>t</a:t>
            </a:r>
            <a:r>
              <a:rPr sz="3150" b="1" i="0" u="none" dirty="0" err="1">
                <a:solidFill>
                  <a:srgbClr val="1A2A3A"/>
                </a:solidFill>
                <a:latin typeface="Playfair Display"/>
              </a:rPr>
              <a:t>écnico</a:t>
            </a:r>
            <a:endParaRPr sz="3150" b="1" i="0" u="none" dirty="0">
              <a:solidFill>
                <a:srgbClr val="1A2A3A"/>
              </a:solidFill>
              <a:latin typeface="Playfair Display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2000" y="1104900"/>
            <a:ext cx="10668000" cy="1905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50" y="2393156"/>
            <a:ext cx="371475" cy="3333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7750" y="3117056"/>
            <a:ext cx="293364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C5A059"/>
                </a:solidFill>
                <a:latin typeface="Montserrat"/>
              </a:rPr>
              <a:t>TRANSFORMACIÓN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3602831"/>
            <a:ext cx="2793950" cy="1085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Montserrat"/>
              </a:rPr>
              <a:t>Conversión de registros brutos en un dataset de </a:t>
            </a:r>
            <a:r>
              <a:rPr sz="1425" b="1" i="0" u="none">
                <a:solidFill>
                  <a:srgbClr val="334155"/>
                </a:solidFill>
                <a:latin typeface="Montserrat"/>
              </a:rPr>
              <a:t>series temporales</a:t>
            </a:r>
            <a:r>
              <a:rPr sz="1425" b="0" i="0" u="none">
                <a:solidFill>
                  <a:srgbClr val="334155"/>
                </a:solidFill>
                <a:latin typeface="Montserrat"/>
              </a:rPr>
              <a:t>. Definición de tramos horarios (Corte 14:00h).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8950" y="2393156"/>
            <a:ext cx="333375" cy="3333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98950" y="3117056"/>
            <a:ext cx="2933647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C5A059"/>
                </a:solidFill>
                <a:latin typeface="Montserrat"/>
              </a:rPr>
              <a:t>SPLIT CRONOLÓGICO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8950" y="3907631"/>
            <a:ext cx="2793950" cy="1357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Montserrat"/>
              </a:rPr>
              <a:t>División 80/20 (Train/Test) respetando el orden temporal. </a:t>
            </a:r>
            <a:r>
              <a:rPr sz="1425" b="1" i="0" u="none">
                <a:solidFill>
                  <a:srgbClr val="334155"/>
                </a:solidFill>
                <a:latin typeface="Montserrat"/>
              </a:rPr>
              <a:t>Corte: 24/01/2026</a:t>
            </a:r>
            <a:r>
              <a:rPr sz="1425" b="0" i="0" u="none">
                <a:solidFill>
                  <a:srgbClr val="334155"/>
                </a:solidFill>
                <a:latin typeface="Montserrat"/>
              </a:rPr>
              <a:t>. Evita contaminación de datos futuros.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0150" y="2393156"/>
            <a:ext cx="333375" cy="3333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50150" y="3117056"/>
            <a:ext cx="2933804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C5A059"/>
                </a:solidFill>
                <a:latin typeface="Montserrat"/>
              </a:rPr>
              <a:t>MÉTRICA MAE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0150" y="3602831"/>
            <a:ext cx="2794099" cy="1628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Montserrat"/>
              </a:rPr>
              <a:t>Elegida por su interpretabilidad para el negocio: "Error medio de N citas por tramo". MAPE descartado por ceros en el target.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255043"/>
            <a:ext cx="5095875" cy="1114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476250"/>
            <a:ext cx="1120140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 dirty="0">
                <a:solidFill>
                  <a:srgbClr val="1A2A3A"/>
                </a:solidFill>
                <a:latin typeface="Playfair Display"/>
              </a:rPr>
              <a:t>3. Dataset y </a:t>
            </a:r>
            <a:r>
              <a:rPr lang="es-ES" sz="3150" b="1" dirty="0">
                <a:solidFill>
                  <a:srgbClr val="1A2A3A"/>
                </a:solidFill>
                <a:latin typeface="Playfair Display"/>
              </a:rPr>
              <a:t>p</a:t>
            </a:r>
            <a:r>
              <a:rPr sz="3150" b="1" i="0" u="none" dirty="0" err="1">
                <a:solidFill>
                  <a:srgbClr val="1A2A3A"/>
                </a:solidFill>
                <a:latin typeface="Playfair Display"/>
              </a:rPr>
              <a:t>reprocesamiento</a:t>
            </a:r>
            <a:endParaRPr sz="3150" b="1" i="0" u="none" dirty="0">
              <a:solidFill>
                <a:srgbClr val="1A2A3A"/>
              </a:solidFill>
              <a:latin typeface="Playfair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2000" y="1104900"/>
            <a:ext cx="10668000" cy="1905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3559968"/>
            <a:ext cx="5095875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Montserrat"/>
              </a:rPr>
              <a:t>Acciones de limpieza: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998817"/>
              </p:ext>
            </p:extLst>
          </p:nvPr>
        </p:nvGraphicFramePr>
        <p:xfrm>
          <a:off x="6334125" y="2445544"/>
          <a:ext cx="5095874" cy="2365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2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Montserrat"/>
                        </a:rPr>
                        <a:t>Paso de Pipeline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Montserrat"/>
                        </a:rPr>
                        <a:t>Descripción Técnica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479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Montserrat"/>
                        </a:rPr>
                        <a:t>Parseo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Montserrat"/>
                        </a:rPr>
                        <a:t>Extracción de fecha/hora desde 'Disponibilidad'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16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Corte Temporal</a:t>
                      </a:r>
                    </a:p>
                    <a:p>
                      <a:pPr algn="l"/>
                      <a:endParaRPr sz="1200" b="0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Histórico </a:t>
                      </a:r>
                      <a:r>
                        <a:rPr lang="en-GB" sz="1200" b="0" i="0" u="none" dirty="0" err="1">
                          <a:solidFill>
                            <a:srgbClr val="334155"/>
                          </a:solidFill>
                          <a:latin typeface="Montserrat"/>
                        </a:rPr>
                        <a:t>cerrado</a:t>
                      </a:r>
                      <a:r>
                        <a:rPr lang="en-GB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 hasta 30/06/2026</a:t>
                      </a:r>
                    </a:p>
                    <a:p>
                      <a:pPr algn="l"/>
                      <a:endParaRPr sz="1200" b="0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Feature Scaling</a:t>
                      </a:r>
                    </a:p>
                    <a:p>
                      <a:pPr algn="l"/>
                      <a:endParaRPr sz="1200" b="0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StandardScaler para 'dias_desde_inicio'</a:t>
                      </a:r>
                    </a:p>
                    <a:p>
                      <a:pPr algn="l"/>
                      <a:endParaRPr sz="1200" b="0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95375" y="4012406"/>
            <a:ext cx="4762500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Montserrat"/>
              </a:rPr>
              <a:t>Exclusión de productos no-servicio (bonos, tarjetas).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75" y="4426743"/>
            <a:ext cx="4762500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Montserrat"/>
              </a:rPr>
              <a:t>Filtrado de citas canceladas (~1.4% del total).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" y="4841081"/>
            <a:ext cx="47625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Montserrat"/>
              </a:rPr>
              <a:t>Tratamiento de </a:t>
            </a:r>
            <a:r>
              <a:rPr sz="1425" b="1" i="0" u="none">
                <a:solidFill>
                  <a:srgbClr val="334155"/>
                </a:solidFill>
                <a:latin typeface="Montserrat"/>
              </a:rPr>
              <a:t>días de cierre</a:t>
            </a:r>
            <a:r>
              <a:rPr sz="1425" b="0" i="0" u="none">
                <a:solidFill>
                  <a:srgbClr val="334155"/>
                </a:solidFill>
                <a:latin typeface="Montserrat"/>
              </a:rPr>
              <a:t> (Navidad, Año Nuevo) como regla de negocio (Target = 0).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012406"/>
            <a:ext cx="952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426743"/>
            <a:ext cx="952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841081"/>
            <a:ext cx="95250" cy="1905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334125" y="4879181"/>
            <a:ext cx="15434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77621" y="4879181"/>
            <a:ext cx="35523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09700"/>
            <a:ext cx="10668000" cy="4972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714601"/>
            <a:ext cx="3365450" cy="220057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3200" y="3714601"/>
            <a:ext cx="3365450" cy="22005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00" y="3714601"/>
            <a:ext cx="3365599" cy="22005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476250"/>
            <a:ext cx="1120140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 dirty="0">
                <a:solidFill>
                  <a:srgbClr val="1A2A3A"/>
                </a:solidFill>
                <a:latin typeface="Playfair Display"/>
              </a:rPr>
              <a:t>4. EDA: </a:t>
            </a:r>
            <a:r>
              <a:rPr sz="3150" b="1" i="0" u="none" dirty="0" err="1">
                <a:solidFill>
                  <a:srgbClr val="1A2A3A"/>
                </a:solidFill>
                <a:latin typeface="Playfair Display"/>
              </a:rPr>
              <a:t>Hallazgos</a:t>
            </a:r>
            <a:r>
              <a:rPr sz="3150" b="1" i="0" u="none" dirty="0">
                <a:solidFill>
                  <a:srgbClr val="1A2A3A"/>
                </a:solidFill>
                <a:latin typeface="Playfair Display"/>
              </a:rPr>
              <a:t> </a:t>
            </a:r>
            <a:r>
              <a:rPr lang="es-ES" sz="3150" b="1" dirty="0">
                <a:solidFill>
                  <a:srgbClr val="1A2A3A"/>
                </a:solidFill>
                <a:latin typeface="Playfair Display"/>
              </a:rPr>
              <a:t>p</a:t>
            </a:r>
            <a:r>
              <a:rPr sz="3150" b="1" i="0" u="none" dirty="0" err="1">
                <a:solidFill>
                  <a:srgbClr val="1A2A3A"/>
                </a:solidFill>
                <a:latin typeface="Playfair Display"/>
              </a:rPr>
              <a:t>rincipales</a:t>
            </a:r>
            <a:endParaRPr sz="3150" b="1" i="0" u="none" dirty="0">
              <a:solidFill>
                <a:srgbClr val="1A2A3A"/>
              </a:solidFill>
              <a:latin typeface="Playfair Display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2000" y="1104900"/>
            <a:ext cx="10668000" cy="1905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7750" y="4250531"/>
            <a:ext cx="293364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Montserrat"/>
              </a:rPr>
              <a:t>Distribución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4634061"/>
            <a:ext cx="2793950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Montserrat"/>
              </a:rPr>
              <a:t>Skewness de 0.94. Hay días de demanda extrema pero son raros (Sábados de febrero).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8950" y="4250531"/>
            <a:ext cx="293364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Montserrat"/>
              </a:rPr>
              <a:t>Efecto Finde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8950" y="4634061"/>
            <a:ext cx="2793950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Montserrat"/>
              </a:rPr>
              <a:t>El fin de semana multiplica la demanda de mañana x2.5 y sube la tarde un 57%.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0150" y="4250531"/>
            <a:ext cx="293380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Montserrat"/>
              </a:rPr>
              <a:t>Estacionalidad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0150" y="4634061"/>
            <a:ext cx="2794099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Montserrat"/>
              </a:rPr>
              <a:t>Patrón claro: Invierno (Alta) vs Verano (Baja). Sevilla compite con playa en agosto.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981200"/>
            <a:ext cx="509587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981200"/>
            <a:ext cx="5095875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3187" y="4648200"/>
            <a:ext cx="571500" cy="571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5187" y="2362200"/>
            <a:ext cx="571500" cy="285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476250"/>
            <a:ext cx="1120140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 dirty="0">
                <a:solidFill>
                  <a:srgbClr val="1A2A3A"/>
                </a:solidFill>
                <a:latin typeface="Playfair Display"/>
              </a:rPr>
              <a:t>EDA: </a:t>
            </a:r>
            <a:r>
              <a:rPr sz="3150" b="1" i="0" u="none" dirty="0" err="1">
                <a:solidFill>
                  <a:srgbClr val="1A2A3A"/>
                </a:solidFill>
                <a:latin typeface="Playfair Display"/>
              </a:rPr>
              <a:t>Crecimiento</a:t>
            </a:r>
            <a:r>
              <a:rPr sz="3150" b="1" i="0" u="none" dirty="0">
                <a:solidFill>
                  <a:srgbClr val="1A2A3A"/>
                </a:solidFill>
                <a:latin typeface="Playfair Display"/>
              </a:rPr>
              <a:t> y </a:t>
            </a:r>
            <a:r>
              <a:rPr lang="es-ES" sz="3150" b="1" dirty="0">
                <a:solidFill>
                  <a:srgbClr val="1A2A3A"/>
                </a:solidFill>
                <a:latin typeface="Playfair Display"/>
              </a:rPr>
              <a:t>t</a:t>
            </a:r>
            <a:r>
              <a:rPr sz="3150" b="1" i="0" u="none" dirty="0" err="1">
                <a:solidFill>
                  <a:srgbClr val="1A2A3A"/>
                </a:solidFill>
                <a:latin typeface="Playfair Display"/>
              </a:rPr>
              <a:t>endencia</a:t>
            </a:r>
            <a:endParaRPr sz="3150" b="1" i="0" u="none" dirty="0">
              <a:solidFill>
                <a:srgbClr val="1A2A3A"/>
              </a:solidFill>
              <a:latin typeface="Playfair Display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2000" y="1104900"/>
            <a:ext cx="10668000" cy="1905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34125" y="2228850"/>
            <a:ext cx="5350668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C5A059"/>
                </a:solidFill>
                <a:latin typeface="Montserrat"/>
              </a:rPr>
              <a:t>CRECIMIENTO INTERANUAL EXPONENCIAL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4125" y="3019425"/>
            <a:ext cx="509587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Montserrat"/>
              </a:rPr>
              <a:t>No es solo estacionalidad, el negocio está en fase de expansión: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0" y="3743325"/>
            <a:ext cx="47625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Montserrat"/>
              </a:rPr>
              <a:t>Mayo pasa de 52 citas (2024) a 293 (2025). </a:t>
            </a:r>
            <a:r>
              <a:rPr sz="1425" b="1" i="0" u="none">
                <a:solidFill>
                  <a:srgbClr val="334155"/>
                </a:solidFill>
                <a:latin typeface="Montserrat"/>
              </a:rPr>
              <a:t>Crecimiento x5.6</a:t>
            </a:r>
            <a:r>
              <a:rPr sz="1425" b="0" i="0" u="none">
                <a:solidFill>
                  <a:srgbClr val="334155"/>
                </a:solidFill>
                <a:latin typeface="Montserrat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0" y="4429125"/>
            <a:ext cx="47625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Montserrat"/>
              </a:rPr>
              <a:t>Necesidad de la variable dias_desde_inicio para capturar tendencia lineal.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0" y="5114925"/>
            <a:ext cx="47625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Montserrat"/>
              </a:rPr>
              <a:t>Aplanamiento relativo de la curva a partir de mediados de 2025 (Maduración).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25" y="3743325"/>
            <a:ext cx="9525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25" y="4429125"/>
            <a:ext cx="9525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25" y="5114925"/>
            <a:ext cx="952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14475"/>
            <a:ext cx="11049000" cy="4772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005387"/>
            <a:ext cx="550068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B7945E"/>
                </a:solidFill>
                <a:latin typeface="Urbanist SemiBold"/>
              </a:rPr>
              <a:t>Estacionalidad 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519737"/>
            <a:ext cx="52387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475569"/>
                </a:solidFill>
                <a:latin typeface="Urbanist"/>
              </a:rPr>
              <a:t>Pico máximo en invierno (febrero) y valles en verano (julio/agosto). El spa es un plan de frío en Sevilla.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5005387"/>
            <a:ext cx="550068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B7945E"/>
                </a:solidFill>
                <a:latin typeface="Urbanist SemiBold"/>
              </a:rPr>
              <a:t>Ciclo Semanal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0" y="5519737"/>
            <a:ext cx="52387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475569"/>
                </a:solidFill>
                <a:latin typeface="Urbanist"/>
              </a:rPr>
              <a:t>Demanda plana de Lunes a Jueves. El Viernes tarde comienza el ascenso, culminando en el Sábado como pico absoluto.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71500"/>
            <a:ext cx="9801225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 err="1">
                <a:solidFill>
                  <a:srgbClr val="0F172A"/>
                </a:solidFill>
                <a:latin typeface="Playfair Display"/>
              </a:rPr>
              <a:t>Patrones</a:t>
            </a:r>
            <a:r>
              <a:rPr sz="3300" b="1" i="0" u="none" dirty="0">
                <a:solidFill>
                  <a:srgbClr val="0F172A"/>
                </a:solidFill>
                <a:latin typeface="Playfair Display"/>
              </a:rPr>
              <a:t> de </a:t>
            </a:r>
            <a:r>
              <a:rPr lang="es-ES" sz="3300" b="1" i="0" u="none" dirty="0">
                <a:solidFill>
                  <a:srgbClr val="0F172A"/>
                </a:solidFill>
                <a:latin typeface="Playfair Display"/>
              </a:rPr>
              <a:t>c</a:t>
            </a:r>
            <a:r>
              <a:rPr sz="3300" b="1" i="0" u="none" dirty="0" err="1">
                <a:solidFill>
                  <a:srgbClr val="0F172A"/>
                </a:solidFill>
                <a:latin typeface="Playfair Display"/>
              </a:rPr>
              <a:t>alendario</a:t>
            </a:r>
            <a:r>
              <a:rPr sz="3300" b="1" i="0" u="none" dirty="0">
                <a:solidFill>
                  <a:srgbClr val="0F172A"/>
                </a:solidFill>
                <a:latin typeface="Playfair Display"/>
              </a:rPr>
              <a:t> y </a:t>
            </a:r>
            <a:r>
              <a:rPr lang="es-ES" sz="3300" b="1" dirty="0">
                <a:solidFill>
                  <a:srgbClr val="0F172A"/>
                </a:solidFill>
                <a:latin typeface="Playfair Display"/>
              </a:rPr>
              <a:t>c</a:t>
            </a:r>
            <a:r>
              <a:rPr sz="3300" b="1" i="0" u="none" dirty="0" err="1">
                <a:solidFill>
                  <a:srgbClr val="0F172A"/>
                </a:solidFill>
                <a:latin typeface="Playfair Display"/>
              </a:rPr>
              <a:t>iclos</a:t>
            </a:r>
            <a:endParaRPr sz="3300" b="1" i="0" u="none" dirty="0">
              <a:solidFill>
                <a:srgbClr val="0F172A"/>
              </a:solidFill>
              <a:latin typeface="Playfair Display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B79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962150"/>
            <a:ext cx="3365450" cy="31289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200" y="1962150"/>
            <a:ext cx="3365450" cy="31289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1962150"/>
            <a:ext cx="3365599" cy="31289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476250"/>
            <a:ext cx="1120140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 dirty="0">
                <a:solidFill>
                  <a:srgbClr val="1A2A3A"/>
                </a:solidFill>
                <a:latin typeface="Playfair Display"/>
              </a:rPr>
              <a:t>5. </a:t>
            </a:r>
            <a:r>
              <a:rPr sz="3150" b="1" i="0" u="none" dirty="0" err="1">
                <a:solidFill>
                  <a:srgbClr val="1A2A3A"/>
                </a:solidFill>
                <a:latin typeface="Playfair Display"/>
              </a:rPr>
              <a:t>Estrategia</a:t>
            </a:r>
            <a:r>
              <a:rPr sz="3150" b="1" i="0" u="none" dirty="0">
                <a:solidFill>
                  <a:srgbClr val="1A2A3A"/>
                </a:solidFill>
                <a:latin typeface="Playfair Display"/>
              </a:rPr>
              <a:t> de </a:t>
            </a:r>
            <a:r>
              <a:rPr lang="es-ES" sz="3150" b="1" i="0" u="none" dirty="0">
                <a:solidFill>
                  <a:srgbClr val="1A2A3A"/>
                </a:solidFill>
                <a:latin typeface="Playfair Display"/>
              </a:rPr>
              <a:t>i</a:t>
            </a:r>
            <a:r>
              <a:rPr sz="3150" b="1" i="0" u="none" dirty="0" err="1">
                <a:solidFill>
                  <a:srgbClr val="1A2A3A"/>
                </a:solidFill>
                <a:latin typeface="Playfair Display"/>
              </a:rPr>
              <a:t>ngeniería</a:t>
            </a:r>
            <a:r>
              <a:rPr sz="3150" b="1" i="0" u="none" dirty="0">
                <a:solidFill>
                  <a:srgbClr val="1A2A3A"/>
                </a:solidFill>
                <a:latin typeface="Playfair Display"/>
              </a:rPr>
              <a:t> de </a:t>
            </a:r>
            <a:r>
              <a:rPr lang="es-ES" sz="3150" b="1" i="0" u="none" dirty="0">
                <a:solidFill>
                  <a:srgbClr val="1A2A3A"/>
                </a:solidFill>
                <a:latin typeface="Playfair Display"/>
              </a:rPr>
              <a:t>f</a:t>
            </a:r>
            <a:r>
              <a:rPr sz="3150" b="1" i="0" u="none" dirty="0" err="1">
                <a:solidFill>
                  <a:srgbClr val="1A2A3A"/>
                </a:solidFill>
                <a:latin typeface="Playfair Display"/>
              </a:rPr>
              <a:t>eatures</a:t>
            </a:r>
            <a:endParaRPr sz="3150" b="1" i="0" u="none" dirty="0">
              <a:solidFill>
                <a:srgbClr val="1A2A3A"/>
              </a:solidFill>
              <a:latin typeface="Playfair Display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2000" y="1104900"/>
            <a:ext cx="10668000" cy="1905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2500" y="5376862"/>
            <a:ext cx="10477500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1" u="none" dirty="0">
                <a:solidFill>
                  <a:srgbClr val="334155"/>
                </a:solidFill>
                <a:latin typeface="Montserrat"/>
              </a:rPr>
              <a:t>"</a:t>
            </a:r>
            <a:r>
              <a:rPr sz="1425" b="0" i="1" u="none" dirty="0" err="1">
                <a:solidFill>
                  <a:srgbClr val="334155"/>
                </a:solidFill>
                <a:latin typeface="Montserrat"/>
              </a:rPr>
              <a:t>Transformamos</a:t>
            </a:r>
            <a:r>
              <a:rPr sz="1425" b="0" i="1" u="none" dirty="0">
                <a:solidFill>
                  <a:srgbClr val="334155"/>
                </a:solidFill>
                <a:latin typeface="Montserrat"/>
              </a:rPr>
              <a:t> </a:t>
            </a:r>
            <a:r>
              <a:rPr sz="1425" b="0" i="1" u="none" dirty="0" err="1">
                <a:solidFill>
                  <a:srgbClr val="334155"/>
                </a:solidFill>
                <a:latin typeface="Montserrat"/>
              </a:rPr>
              <a:t>datos</a:t>
            </a:r>
            <a:r>
              <a:rPr sz="1425" b="0" i="1" u="none" dirty="0">
                <a:solidFill>
                  <a:srgbClr val="334155"/>
                </a:solidFill>
                <a:latin typeface="Montserrat"/>
              </a:rPr>
              <a:t> </a:t>
            </a:r>
            <a:r>
              <a:rPr sz="1425" b="0" i="1" u="none" dirty="0" err="1">
                <a:solidFill>
                  <a:srgbClr val="334155"/>
                </a:solidFill>
                <a:latin typeface="Montserrat"/>
              </a:rPr>
              <a:t>cíclicos</a:t>
            </a:r>
            <a:r>
              <a:rPr sz="1425" b="0" i="1" u="none" dirty="0">
                <a:solidFill>
                  <a:srgbClr val="334155"/>
                </a:solidFill>
                <a:latin typeface="Montserrat"/>
              </a:rPr>
              <a:t> </a:t>
            </a:r>
            <a:r>
              <a:rPr sz="1425" b="0" i="1" u="none" dirty="0" err="1">
                <a:solidFill>
                  <a:srgbClr val="334155"/>
                </a:solidFill>
                <a:latin typeface="Montserrat"/>
              </a:rPr>
              <a:t>en</a:t>
            </a:r>
            <a:r>
              <a:rPr sz="1425" b="0" i="1" u="none" dirty="0">
                <a:solidFill>
                  <a:srgbClr val="334155"/>
                </a:solidFill>
                <a:latin typeface="Montserrat"/>
              </a:rPr>
              <a:t> </a:t>
            </a:r>
            <a:r>
              <a:rPr sz="1425" b="0" i="1" u="none" dirty="0" err="1">
                <a:solidFill>
                  <a:srgbClr val="334155"/>
                </a:solidFill>
                <a:latin typeface="Montserrat"/>
              </a:rPr>
              <a:t>señales</a:t>
            </a:r>
            <a:r>
              <a:rPr sz="1425" b="0" i="1" u="none" dirty="0">
                <a:solidFill>
                  <a:srgbClr val="334155"/>
                </a:solidFill>
                <a:latin typeface="Montserrat"/>
              </a:rPr>
              <a:t> de </a:t>
            </a:r>
            <a:r>
              <a:rPr sz="1425" b="0" i="1" u="none" dirty="0" err="1">
                <a:solidFill>
                  <a:srgbClr val="334155"/>
                </a:solidFill>
                <a:latin typeface="Montserrat"/>
              </a:rPr>
              <a:t>negocio</a:t>
            </a:r>
            <a:r>
              <a:rPr sz="1425" b="0" i="1" u="none" dirty="0">
                <a:solidFill>
                  <a:srgbClr val="334155"/>
                </a:solidFill>
                <a:latin typeface="Montserrat"/>
              </a:rPr>
              <a:t> </a:t>
            </a:r>
            <a:r>
              <a:rPr sz="1425" b="0" i="1" u="none" dirty="0" err="1">
                <a:solidFill>
                  <a:srgbClr val="334155"/>
                </a:solidFill>
                <a:latin typeface="Montserrat"/>
              </a:rPr>
              <a:t>aprovechando</a:t>
            </a:r>
            <a:r>
              <a:rPr sz="1425" b="0" i="1" u="none" dirty="0">
                <a:solidFill>
                  <a:srgbClr val="334155"/>
                </a:solidFill>
                <a:latin typeface="Montserrat"/>
              </a:rPr>
              <a:t> </a:t>
            </a:r>
            <a:r>
              <a:rPr sz="1425" b="0" i="1" u="none" dirty="0" err="1">
                <a:solidFill>
                  <a:srgbClr val="334155"/>
                </a:solidFill>
                <a:latin typeface="Montserrat"/>
              </a:rPr>
              <a:t>los</a:t>
            </a:r>
            <a:r>
              <a:rPr sz="1425" b="0" i="1" u="none" dirty="0">
                <a:solidFill>
                  <a:srgbClr val="334155"/>
                </a:solidFill>
                <a:latin typeface="Montserrat"/>
              </a:rPr>
              <a:t> </a:t>
            </a:r>
            <a:r>
              <a:rPr sz="1425" b="0" i="1" u="none" dirty="0" err="1">
                <a:solidFill>
                  <a:srgbClr val="334155"/>
                </a:solidFill>
                <a:latin typeface="Montserrat"/>
              </a:rPr>
              <a:t>hallazgos</a:t>
            </a:r>
            <a:r>
              <a:rPr sz="1425" b="0" i="1" u="none" dirty="0">
                <a:solidFill>
                  <a:srgbClr val="334155"/>
                </a:solidFill>
                <a:latin typeface="Montserrat"/>
              </a:rPr>
              <a:t> del EDA."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5376862"/>
            <a:ext cx="38100" cy="271462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50" y="2295525"/>
            <a:ext cx="295275" cy="3333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7750" y="3019425"/>
            <a:ext cx="293364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C5A059"/>
                </a:solidFill>
                <a:latin typeface="Montserrat"/>
              </a:rPr>
              <a:t>GRUPO DÍA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" y="3505200"/>
            <a:ext cx="2793950" cy="1085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Montserrat"/>
              </a:rPr>
              <a:t>Agrupación: L-J (Plano), Viernes (Despegue), S-D (Pico). Reduce ruido frente a 'Día de la semana'.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8950" y="2295525"/>
            <a:ext cx="295275" cy="3333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98950" y="3019425"/>
            <a:ext cx="293364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C5A059"/>
                </a:solidFill>
                <a:latin typeface="Montserrat"/>
              </a:rPr>
              <a:t>TEMPORADA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8950" y="3505200"/>
            <a:ext cx="2793950" cy="1085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Montserrat"/>
              </a:rPr>
              <a:t>Agrupa meses por comportamiento de negocio. Diciembre y Enero pegados vs Mes lineal (12 y 1).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0150" y="2295525"/>
            <a:ext cx="333375" cy="3333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50150" y="3019425"/>
            <a:ext cx="2933804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C5A059"/>
                </a:solidFill>
                <a:latin typeface="Montserrat"/>
              </a:rPr>
              <a:t>HITOS COMERCIALES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0150" y="3810000"/>
            <a:ext cx="2794099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Montserrat"/>
              </a:rPr>
              <a:t>Flags específicos para </a:t>
            </a:r>
            <a:r>
              <a:rPr sz="1425" b="1" i="0" u="none">
                <a:solidFill>
                  <a:srgbClr val="334155"/>
                </a:solidFill>
                <a:latin typeface="Montserrat"/>
              </a:rPr>
              <a:t>San Valentín</a:t>
            </a:r>
            <a:r>
              <a:rPr sz="1425" b="0" i="0" u="none">
                <a:solidFill>
                  <a:srgbClr val="334155"/>
                </a:solidFill>
                <a:latin typeface="Montserrat"/>
              </a:rPr>
              <a:t> y </a:t>
            </a:r>
            <a:r>
              <a:rPr sz="1425" b="1" i="0" u="none">
                <a:solidFill>
                  <a:srgbClr val="334155"/>
                </a:solidFill>
                <a:latin typeface="Montserrat"/>
              </a:rPr>
              <a:t>Día de la Madre</a:t>
            </a:r>
            <a:r>
              <a:rPr sz="1425" b="0" i="0" u="none">
                <a:solidFill>
                  <a:srgbClr val="334155"/>
                </a:solidFill>
                <a:latin typeface="Montserrat"/>
              </a:rPr>
              <a:t>. Impacto masivo en demanda.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476250"/>
            <a:ext cx="1120140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 dirty="0">
                <a:solidFill>
                  <a:srgbClr val="1A2A3A"/>
                </a:solidFill>
                <a:latin typeface="Playfair Display"/>
              </a:rPr>
              <a:t>6. </a:t>
            </a:r>
            <a:r>
              <a:rPr sz="3150" b="1" i="0" u="none" dirty="0" err="1">
                <a:solidFill>
                  <a:srgbClr val="1A2A3A"/>
                </a:solidFill>
                <a:latin typeface="Playfair Display"/>
              </a:rPr>
              <a:t>Arquitectura</a:t>
            </a:r>
            <a:r>
              <a:rPr sz="3150" b="1" i="0" u="none" dirty="0">
                <a:solidFill>
                  <a:srgbClr val="1A2A3A"/>
                </a:solidFill>
                <a:latin typeface="Playfair Display"/>
              </a:rPr>
              <a:t> y </a:t>
            </a:r>
            <a:r>
              <a:rPr lang="es-ES" sz="3150" b="1" dirty="0">
                <a:solidFill>
                  <a:srgbClr val="1A2A3A"/>
                </a:solidFill>
                <a:latin typeface="Playfair Display"/>
              </a:rPr>
              <a:t>c</a:t>
            </a:r>
            <a:r>
              <a:rPr sz="3150" b="1" i="0" u="none" dirty="0" err="1">
                <a:solidFill>
                  <a:srgbClr val="1A2A3A"/>
                </a:solidFill>
                <a:latin typeface="Playfair Display"/>
              </a:rPr>
              <a:t>omparativa</a:t>
            </a:r>
            <a:endParaRPr sz="3150" b="1" i="0" u="none" dirty="0">
              <a:solidFill>
                <a:srgbClr val="1A2A3A"/>
              </a:solidFill>
              <a:latin typeface="Playfair Display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0" y="1104900"/>
            <a:ext cx="10668000" cy="1905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882151"/>
              </p:ext>
            </p:extLst>
          </p:nvPr>
        </p:nvGraphicFramePr>
        <p:xfrm>
          <a:off x="757832" y="1193345"/>
          <a:ext cx="10667999" cy="3759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2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6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5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739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Montserrat"/>
                        </a:rPr>
                        <a:t>Algoritmo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Montserrat"/>
                        </a:rPr>
                        <a:t>MAE (CV)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Montserrat"/>
                        </a:rPr>
                        <a:t>RMSE (CV)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Montserrat"/>
                        </a:rPr>
                        <a:t>R²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739"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Baseline (Media Train)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2.</a:t>
                      </a:r>
                      <a:r>
                        <a:rPr lang="es-ES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30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3,02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-0,21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739">
                <a:tc>
                  <a:txBody>
                    <a:bodyPr/>
                    <a:lstStyle/>
                    <a:p>
                      <a:pPr algn="l"/>
                      <a:r>
                        <a:rPr lang="es-ES" sz="1200" b="0" i="0" u="none" dirty="0" err="1">
                          <a:solidFill>
                            <a:srgbClr val="334155"/>
                          </a:solidFill>
                          <a:latin typeface="Montserrat"/>
                        </a:rPr>
                        <a:t>Baseline</a:t>
                      </a:r>
                      <a:r>
                        <a:rPr lang="es-ES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 (estacional t-7)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2.02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2.64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0.07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875821"/>
                  </a:ext>
                </a:extLst>
              </a:tr>
              <a:tr h="417739"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Linear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1.</a:t>
                      </a:r>
                      <a:r>
                        <a:rPr lang="es-ES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92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2.</a:t>
                      </a:r>
                      <a:r>
                        <a:rPr lang="es-ES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37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0.</a:t>
                      </a:r>
                      <a:r>
                        <a:rPr lang="es-ES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24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739"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K-Neighbors Regressor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2.24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2.</a:t>
                      </a:r>
                      <a:r>
                        <a:rPr lang="es-ES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90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-</a:t>
                      </a:r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0.</a:t>
                      </a:r>
                      <a:r>
                        <a:rPr lang="es-ES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16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739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Montserrat"/>
                        </a:rPr>
                        <a:t>Decision Tree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2.15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2.8</a:t>
                      </a:r>
                      <a:r>
                        <a:rPr lang="es-ES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1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-0</a:t>
                      </a:r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.</a:t>
                      </a:r>
                      <a:r>
                        <a:rPr lang="es-ES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13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739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Montserrat"/>
                        </a:rPr>
                        <a:t>Random Forest (Final)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1.</a:t>
                      </a:r>
                      <a:r>
                        <a:rPr lang="es-ES" sz="1200" b="1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89</a:t>
                      </a:r>
                      <a:endParaRPr sz="1200" b="1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2.</a:t>
                      </a:r>
                      <a:r>
                        <a:rPr lang="es-ES" sz="1200" b="1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43</a:t>
                      </a:r>
                      <a:endParaRPr sz="1200" b="1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0.</a:t>
                      </a:r>
                      <a:r>
                        <a:rPr lang="es-ES" sz="1200" b="1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17</a:t>
                      </a:r>
                      <a:endParaRPr sz="1200" b="1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741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Montserrat"/>
                        </a:rPr>
                        <a:t>Gradient Boosting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Montserrat"/>
                        </a:rPr>
                        <a:t>1.78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2.28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0.56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741">
                <a:tc>
                  <a:txBody>
                    <a:bodyPr/>
                    <a:lstStyle/>
                    <a:p>
                      <a:pPr algn="l"/>
                      <a:r>
                        <a:rPr lang="es-ES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Ridge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1.94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2.43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i="0" u="none" dirty="0">
                          <a:solidFill>
                            <a:srgbClr val="334155"/>
                          </a:solidFill>
                          <a:latin typeface="Montserrat"/>
                        </a:rPr>
                        <a:t>0.22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606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2000" y="5175595"/>
            <a:ext cx="5095875" cy="1085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 dirty="0" err="1">
                <a:solidFill>
                  <a:srgbClr val="334155"/>
                </a:solidFill>
                <a:latin typeface="Montserrat"/>
              </a:rPr>
              <a:t>Optimización</a:t>
            </a:r>
            <a:r>
              <a:rPr sz="1425" b="1" i="0" u="none" dirty="0">
                <a:solidFill>
                  <a:srgbClr val="334155"/>
                </a:solidFill>
                <a:latin typeface="Montserrat"/>
              </a:rPr>
              <a:t>: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RandomForest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superó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a Gradient Boosting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tras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ajuste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de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hiperparámetros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(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RandomizedSearchCV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) con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n_estimators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: 400 y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max_depth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: 10.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0" y="5185347"/>
            <a:ext cx="5095875" cy="1085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 dirty="0">
                <a:solidFill>
                  <a:srgbClr val="334155"/>
                </a:solidFill>
                <a:latin typeface="Montserrat"/>
              </a:rPr>
              <a:t>Folds: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5 cortes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temporales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vía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TimeSeriesSplit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para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asegurar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 </a:t>
            </a:r>
            <a:r>
              <a:rPr sz="1425" b="0" i="0" u="none" dirty="0" err="1">
                <a:solidFill>
                  <a:srgbClr val="334155"/>
                </a:solidFill>
                <a:latin typeface="Montserrat"/>
              </a:rPr>
              <a:t>estabilidad</a:t>
            </a:r>
            <a:r>
              <a:rPr sz="1425" b="0" i="0" u="none" dirty="0">
                <a:solidFill>
                  <a:srgbClr val="334155"/>
                </a:solidFill>
                <a:latin typeface="Montserrat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428875"/>
            <a:ext cx="46220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84006" y="2428875"/>
            <a:ext cx="2256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40240" y="2428875"/>
            <a:ext cx="24753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115550" y="2428875"/>
            <a:ext cx="1314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2000" y="2847975"/>
            <a:ext cx="46220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84006" y="2847975"/>
            <a:ext cx="2256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40240" y="2847975"/>
            <a:ext cx="24753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115550" y="2847975"/>
            <a:ext cx="1314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2000" y="3267075"/>
            <a:ext cx="46220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84006" y="3267075"/>
            <a:ext cx="2256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40240" y="3267075"/>
            <a:ext cx="24753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115550" y="3267075"/>
            <a:ext cx="1314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62000" y="3686175"/>
            <a:ext cx="46220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84006" y="3686175"/>
            <a:ext cx="2256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40240" y="3686175"/>
            <a:ext cx="24753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115550" y="3686175"/>
            <a:ext cx="1314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62000" y="4105275"/>
            <a:ext cx="46220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384006" y="4105275"/>
            <a:ext cx="2256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640240" y="4105275"/>
            <a:ext cx="24753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115550" y="4105275"/>
            <a:ext cx="1314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2000" y="4524375"/>
            <a:ext cx="46220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84006" y="4524375"/>
            <a:ext cx="22562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640240" y="4524375"/>
            <a:ext cx="24753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115550" y="4524375"/>
            <a:ext cx="1314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219450"/>
            <a:ext cx="5095875" cy="1133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476250"/>
            <a:ext cx="1120140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 dirty="0">
                <a:solidFill>
                  <a:srgbClr val="1A2A3A"/>
                </a:solidFill>
                <a:latin typeface="Playfair Display"/>
              </a:rPr>
              <a:t>7. </a:t>
            </a:r>
            <a:r>
              <a:rPr sz="3150" b="1" i="0" u="none" dirty="0" err="1">
                <a:solidFill>
                  <a:srgbClr val="1A2A3A"/>
                </a:solidFill>
                <a:latin typeface="Playfair Display"/>
              </a:rPr>
              <a:t>Evaluación</a:t>
            </a:r>
            <a:r>
              <a:rPr sz="3150" b="1" i="0" u="none" dirty="0">
                <a:solidFill>
                  <a:srgbClr val="1A2A3A"/>
                </a:solidFill>
                <a:latin typeface="Playfair Display"/>
              </a:rPr>
              <a:t> </a:t>
            </a:r>
            <a:r>
              <a:rPr lang="es-ES" sz="3150" b="1" i="0" u="none" dirty="0">
                <a:solidFill>
                  <a:srgbClr val="1A2A3A"/>
                </a:solidFill>
                <a:latin typeface="Playfair Display"/>
              </a:rPr>
              <a:t>f</a:t>
            </a:r>
            <a:r>
              <a:rPr sz="3150" b="1" i="0" u="none" dirty="0" err="1">
                <a:solidFill>
                  <a:srgbClr val="1A2A3A"/>
                </a:solidFill>
                <a:latin typeface="Playfair Display"/>
              </a:rPr>
              <a:t>inal</a:t>
            </a:r>
            <a:r>
              <a:rPr sz="3150" b="1" i="0" u="none" dirty="0">
                <a:solidFill>
                  <a:srgbClr val="1A2A3A"/>
                </a:solidFill>
                <a:latin typeface="Playfair Display"/>
              </a:rPr>
              <a:t>: </a:t>
            </a:r>
            <a:r>
              <a:rPr sz="3150" b="1" i="0" u="none" dirty="0" err="1">
                <a:solidFill>
                  <a:srgbClr val="1A2A3A"/>
                </a:solidFill>
                <a:latin typeface="Playfair Display"/>
              </a:rPr>
              <a:t>Momento</a:t>
            </a:r>
            <a:r>
              <a:rPr sz="3150" b="1" i="0" u="none" dirty="0">
                <a:solidFill>
                  <a:srgbClr val="1A2A3A"/>
                </a:solidFill>
                <a:latin typeface="Playfair Display"/>
              </a:rPr>
              <a:t> de la </a:t>
            </a:r>
            <a:r>
              <a:rPr lang="es-ES" sz="3150" b="1" i="0" u="none" dirty="0">
                <a:solidFill>
                  <a:srgbClr val="1A2A3A"/>
                </a:solidFill>
                <a:latin typeface="Playfair Display"/>
              </a:rPr>
              <a:t>v</a:t>
            </a:r>
            <a:r>
              <a:rPr sz="3150" b="1" i="0" u="none" dirty="0" err="1">
                <a:solidFill>
                  <a:srgbClr val="1A2A3A"/>
                </a:solidFill>
                <a:latin typeface="Playfair Display"/>
              </a:rPr>
              <a:t>erdad</a:t>
            </a:r>
            <a:endParaRPr sz="3150" b="1" i="0" u="none" dirty="0">
              <a:solidFill>
                <a:srgbClr val="1A2A3A"/>
              </a:solidFill>
              <a:latin typeface="Playfair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2000" y="1104900"/>
            <a:ext cx="10668000" cy="1905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2771775"/>
            <a:ext cx="535066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C5A059"/>
                </a:solidFill>
                <a:latin typeface="Montserrat"/>
              </a:rPr>
              <a:t>RESULTADOS EN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543425"/>
            <a:ext cx="509587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Montserrat"/>
              </a:rPr>
              <a:t>El error en test es </a:t>
            </a:r>
            <a:r>
              <a:rPr sz="1425" b="1" i="0" u="none">
                <a:solidFill>
                  <a:srgbClr val="334155"/>
                </a:solidFill>
                <a:latin typeface="Montserrat"/>
              </a:rPr>
              <a:t>idéntico</a:t>
            </a:r>
            <a:r>
              <a:rPr sz="1425" b="0" i="0" u="none">
                <a:solidFill>
                  <a:srgbClr val="334155"/>
                </a:solidFill>
                <a:latin typeface="Montserrat"/>
              </a:rPr>
              <a:t> al estimado por validación cruzada. El modelo no está sobreajustado y es robusto.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4125" y="2771775"/>
            <a:ext cx="535066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C5A059"/>
                </a:solidFill>
                <a:latin typeface="Montserrat"/>
              </a:rPr>
              <a:t>ANÁLISIS DE RESIDUOS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419475"/>
            <a:ext cx="469582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1A2A3A"/>
                </a:solidFill>
                <a:latin typeface="Montserrat"/>
              </a:rPr>
              <a:t>1.74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0" y="3228975"/>
            <a:ext cx="4762500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Montserrat"/>
              </a:rPr>
              <a:t>Distribución de errores centrada en cero.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0" y="3643312"/>
            <a:ext cx="47625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Montserrat"/>
              </a:rPr>
              <a:t>P90:</a:t>
            </a:r>
            <a:r>
              <a:rPr sz="1425" b="0" i="0" u="none">
                <a:solidFill>
                  <a:srgbClr val="334155"/>
                </a:solidFill>
                <a:latin typeface="Montserrat"/>
              </a:rPr>
              <a:t> El 90% de las predicciones tienen un error menor a 3.5 citas.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0" y="4329112"/>
            <a:ext cx="47625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Montserrat"/>
              </a:rPr>
              <a:t>El modelo infra-predice ligeramente en picos extremos de sábado tarde.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3228975"/>
            <a:ext cx="9525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3643312"/>
            <a:ext cx="9525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4329112"/>
            <a:ext cx="952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07269"/>
            <a:ext cx="3492549" cy="33864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207269"/>
            <a:ext cx="3492549" cy="33864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207269"/>
            <a:ext cx="3492549" cy="33864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4875" y="3390900"/>
            <a:ext cx="2967089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C3E50"/>
                </a:solidFill>
                <a:latin typeface="Urbanist"/>
              </a:rPr>
              <a:t>Tramo Horario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3964930"/>
            <a:ext cx="2825799" cy="1066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475569"/>
                </a:solidFill>
                <a:latin typeface="Urbanist"/>
              </a:rPr>
              <a:t>Factor determinante #1. La diferencia entre mañana y tarde define la escala base de la predicción.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3174" y="3390900"/>
            <a:ext cx="2967089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C3E50"/>
                </a:solidFill>
                <a:latin typeface="Urbanist"/>
              </a:rPr>
              <a:t>Tendencia Global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3174" y="3964930"/>
            <a:ext cx="2825799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475569"/>
                </a:solidFill>
                <a:latin typeface="Urbanist"/>
              </a:rPr>
              <a:t>El crecimiento orgánico del spa desde su apertura es la segunda señal más potente.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61474" y="3390900"/>
            <a:ext cx="2967089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C3E50"/>
                </a:solidFill>
                <a:latin typeface="Urbanist"/>
              </a:rPr>
              <a:t>Grupo de Día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1474" y="3964930"/>
            <a:ext cx="2825799" cy="1066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475569"/>
                </a:solidFill>
                <a:latin typeface="Urbanist"/>
              </a:rPr>
              <a:t>La distinción entre laborables y ocio (sábados/domingos) captura el grueso de la estacionalidad semanal.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" y="2569219"/>
            <a:ext cx="38100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3174" y="2569219"/>
            <a:ext cx="428625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474" y="2569219"/>
            <a:ext cx="333375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571500"/>
            <a:ext cx="9801225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 err="1">
                <a:solidFill>
                  <a:srgbClr val="0F172A"/>
                </a:solidFill>
                <a:latin typeface="Playfair Display"/>
              </a:rPr>
              <a:t>Interpretabilidad</a:t>
            </a:r>
            <a:r>
              <a:rPr sz="3300" b="1" i="0" u="none" dirty="0">
                <a:solidFill>
                  <a:srgbClr val="0F172A"/>
                </a:solidFill>
                <a:latin typeface="Playfair Display"/>
              </a:rPr>
              <a:t>: ¿</a:t>
            </a:r>
            <a:r>
              <a:rPr sz="3300" b="1" i="0" u="none" dirty="0" err="1">
                <a:solidFill>
                  <a:srgbClr val="0F172A"/>
                </a:solidFill>
                <a:latin typeface="Playfair Display"/>
              </a:rPr>
              <a:t>Qué</a:t>
            </a:r>
            <a:r>
              <a:rPr sz="3300" b="1" i="0" u="none" dirty="0">
                <a:solidFill>
                  <a:srgbClr val="0F172A"/>
                </a:solidFill>
                <a:latin typeface="Playfair Display"/>
              </a:rPr>
              <a:t> </a:t>
            </a:r>
            <a:r>
              <a:rPr sz="3300" b="1" i="0" u="none" dirty="0" err="1">
                <a:solidFill>
                  <a:srgbClr val="0F172A"/>
                </a:solidFill>
                <a:latin typeface="Playfair Display"/>
              </a:rPr>
              <a:t>mueve</a:t>
            </a:r>
            <a:r>
              <a:rPr sz="3300" b="1" i="0" u="none" dirty="0">
                <a:solidFill>
                  <a:srgbClr val="0F172A"/>
                </a:solidFill>
                <a:latin typeface="Playfair Display"/>
              </a:rPr>
              <a:t> </a:t>
            </a:r>
            <a:r>
              <a:rPr lang="es-ES" sz="3300" b="1" dirty="0">
                <a:solidFill>
                  <a:srgbClr val="0F172A"/>
                </a:solidFill>
                <a:latin typeface="Playfair Display"/>
              </a:rPr>
              <a:t>a</a:t>
            </a:r>
            <a:r>
              <a:rPr sz="3300" b="1" i="0" u="none" dirty="0">
                <a:solidFill>
                  <a:srgbClr val="0F172A"/>
                </a:solidFill>
                <a:latin typeface="Playfair Display"/>
              </a:rPr>
              <a:t> Oasis?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B79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09700"/>
            <a:ext cx="10668000" cy="4972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038600"/>
            <a:ext cx="10668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476250"/>
            <a:ext cx="1120140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 dirty="0" err="1">
                <a:solidFill>
                  <a:srgbClr val="1A2A3A"/>
                </a:solidFill>
                <a:latin typeface="Playfair Display"/>
              </a:rPr>
              <a:t>Interpretabilidad</a:t>
            </a:r>
            <a:r>
              <a:rPr sz="3150" b="1" i="0" u="none" dirty="0">
                <a:solidFill>
                  <a:srgbClr val="1A2A3A"/>
                </a:solidFill>
                <a:latin typeface="Playfair Display"/>
              </a:rPr>
              <a:t> (</a:t>
            </a:r>
            <a:r>
              <a:rPr lang="es-ES" sz="3150" b="1" i="0" u="none" dirty="0">
                <a:solidFill>
                  <a:srgbClr val="1A2A3A"/>
                </a:solidFill>
                <a:latin typeface="Playfair Display"/>
              </a:rPr>
              <a:t>f</a:t>
            </a:r>
            <a:r>
              <a:rPr sz="3150" b="1" i="0" u="none" dirty="0" err="1">
                <a:solidFill>
                  <a:srgbClr val="1A2A3A"/>
                </a:solidFill>
                <a:latin typeface="Playfair Display"/>
              </a:rPr>
              <a:t>eature</a:t>
            </a:r>
            <a:r>
              <a:rPr sz="3150" b="1" i="0" u="none" dirty="0">
                <a:solidFill>
                  <a:srgbClr val="1A2A3A"/>
                </a:solidFill>
                <a:latin typeface="Playfair Display"/>
              </a:rPr>
              <a:t> </a:t>
            </a:r>
            <a:r>
              <a:rPr lang="es-ES" sz="3150" b="1" i="0" u="none" dirty="0">
                <a:solidFill>
                  <a:srgbClr val="1A2A3A"/>
                </a:solidFill>
                <a:latin typeface="Playfair Display"/>
              </a:rPr>
              <a:t>i</a:t>
            </a:r>
            <a:r>
              <a:rPr sz="3150" b="1" i="0" u="none" dirty="0" err="1">
                <a:solidFill>
                  <a:srgbClr val="1A2A3A"/>
                </a:solidFill>
                <a:latin typeface="Playfair Display"/>
              </a:rPr>
              <a:t>mportance</a:t>
            </a:r>
            <a:r>
              <a:rPr sz="3150" b="1" i="0" u="none" dirty="0">
                <a:solidFill>
                  <a:srgbClr val="1A2A3A"/>
                </a:solidFill>
                <a:latin typeface="Playfair Display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104900"/>
            <a:ext cx="10668000" cy="1905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7750" y="4552950"/>
            <a:ext cx="100965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Montserrat"/>
              </a:rPr>
              <a:t>Conclusión:</a:t>
            </a:r>
            <a:r>
              <a:rPr sz="1425" b="0" i="0" u="none">
                <a:solidFill>
                  <a:srgbClr val="334155"/>
                </a:solidFill>
                <a:latin typeface="Montserrat"/>
              </a:rPr>
              <a:t> El tramo (Mañana/Tarde) y el crecimiento orgánico (Tendencia) son los motores de la demanda. Las variables de calendario (Festivos) aportan señal secundaria pero necesaria para picos.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476250"/>
            <a:ext cx="1120140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 dirty="0">
                <a:solidFill>
                  <a:srgbClr val="1A2A3A"/>
                </a:solidFill>
                <a:latin typeface="Playfair Display"/>
              </a:rPr>
              <a:t>8. </a:t>
            </a:r>
            <a:r>
              <a:rPr sz="3150" b="1" i="0" u="none" dirty="0" err="1">
                <a:solidFill>
                  <a:srgbClr val="1A2A3A"/>
                </a:solidFill>
                <a:latin typeface="Playfair Display"/>
              </a:rPr>
              <a:t>Conclusiones</a:t>
            </a:r>
            <a:r>
              <a:rPr sz="3150" b="1" i="0" u="none" dirty="0">
                <a:solidFill>
                  <a:srgbClr val="1A2A3A"/>
                </a:solidFill>
                <a:latin typeface="Playfair Display"/>
              </a:rPr>
              <a:t> y </a:t>
            </a:r>
            <a:r>
              <a:rPr lang="es-ES" sz="3150" b="1" i="0" u="none" dirty="0">
                <a:solidFill>
                  <a:srgbClr val="1A2A3A"/>
                </a:solidFill>
                <a:latin typeface="Playfair Display"/>
              </a:rPr>
              <a:t>a</a:t>
            </a:r>
            <a:r>
              <a:rPr sz="3150" b="1" i="0" u="none" dirty="0" err="1">
                <a:solidFill>
                  <a:srgbClr val="1A2A3A"/>
                </a:solidFill>
                <a:latin typeface="Playfair Display"/>
              </a:rPr>
              <a:t>cciones</a:t>
            </a:r>
            <a:endParaRPr sz="3150" b="1" i="0" u="none" dirty="0">
              <a:solidFill>
                <a:srgbClr val="1A2A3A"/>
              </a:solidFill>
              <a:latin typeface="Playfair Display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0" y="1104900"/>
            <a:ext cx="10668000" cy="1905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2757487"/>
            <a:ext cx="535066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C5A059"/>
                </a:solidFill>
                <a:latin typeface="Montserrat"/>
              </a:rPr>
              <a:t>VALOR PARA EL 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2757487"/>
            <a:ext cx="535066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C5A059"/>
                </a:solidFill>
                <a:latin typeface="Montserrat"/>
              </a:rPr>
              <a:t>PRÓXIMOS PASOS (V2)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" y="3214687"/>
            <a:ext cx="47625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Montserrat"/>
              </a:rPr>
              <a:t>Reducción de incertidumbre en turnos de fin de semana.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" y="3900487"/>
            <a:ext cx="47625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Montserrat"/>
              </a:rPr>
              <a:t>Base de datos lista para escalar a predicción por </a:t>
            </a:r>
            <a:r>
              <a:rPr sz="1425" b="1" i="0" u="none">
                <a:solidFill>
                  <a:srgbClr val="334155"/>
                </a:solidFill>
                <a:latin typeface="Montserrat"/>
              </a:rPr>
              <a:t>Producto</a:t>
            </a:r>
            <a:r>
              <a:rPr sz="1425" b="0" i="0" u="none">
                <a:solidFill>
                  <a:srgbClr val="334155"/>
                </a:solidFill>
                <a:latin typeface="Montserrat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0" y="3214687"/>
            <a:ext cx="47625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Montserrat"/>
              </a:rPr>
              <a:t>Inclusión de Lags:</a:t>
            </a:r>
            <a:r>
              <a:rPr sz="1425" b="0" i="0" u="none">
                <a:solidFill>
                  <a:srgbClr val="334155"/>
                </a:solidFill>
                <a:latin typeface="Montserrat"/>
              </a:rPr>
              <a:t> Usar la demanda de hace 7 días (Corr: 0.55).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0" y="3900487"/>
            <a:ext cx="47625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Montserrat"/>
              </a:rPr>
              <a:t>Predicción Cuantílica:</a:t>
            </a:r>
            <a:r>
              <a:rPr sz="1425" b="0" i="0" u="none">
                <a:solidFill>
                  <a:srgbClr val="334155"/>
                </a:solidFill>
                <a:latin typeface="Montserrat"/>
              </a:rPr>
              <a:t> Dar rangos (Mín/Máx) para escenarios de riesgo.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0" y="4586287"/>
            <a:ext cx="47625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Montserrat"/>
              </a:rPr>
              <a:t>Integración CRM:</a:t>
            </a:r>
            <a:r>
              <a:rPr sz="1425" b="0" i="0" u="none">
                <a:solidFill>
                  <a:srgbClr val="334155"/>
                </a:solidFill>
                <a:latin typeface="Montserrat"/>
              </a:rPr>
              <a:t> Cierres por mantenimiento y promociones activas.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214687"/>
            <a:ext cx="952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900487"/>
            <a:ext cx="9525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3214687"/>
            <a:ext cx="9525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3900487"/>
            <a:ext cx="9525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4586287"/>
            <a:ext cx="952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02FD5-7E1C-772A-E756-27BD38BE2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0102025-249D-3167-7AAF-F145E4263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6194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5BFD2D-4F9D-3CDF-4B93-7927338C8D83}"/>
              </a:ext>
            </a:extLst>
          </p:cNvPr>
          <p:cNvSpPr txBox="1"/>
          <p:nvPr/>
        </p:nvSpPr>
        <p:spPr>
          <a:xfrm>
            <a:off x="3300650" y="1831181"/>
            <a:ext cx="559069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 dirty="0">
                <a:solidFill>
                  <a:srgbClr val="C5A059"/>
                </a:solidFill>
                <a:latin typeface="Montserrat"/>
              </a:rPr>
              <a:t>PROYECTO DE ANALÍTICA PREDICTIVA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A4489B-CF1B-2B7C-482E-01DD9C8864B9}"/>
              </a:ext>
            </a:extLst>
          </p:cNvPr>
          <p:cNvSpPr txBox="1"/>
          <p:nvPr/>
        </p:nvSpPr>
        <p:spPr>
          <a:xfrm>
            <a:off x="2995612" y="2135981"/>
            <a:ext cx="6200775" cy="1019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1A2A3A"/>
                </a:solidFill>
                <a:latin typeface="Playfair Display"/>
              </a:rPr>
              <a:t>Oasis Spa Sevilla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4133A2-650E-B93B-CF54-42DA35A66132}"/>
              </a:ext>
            </a:extLst>
          </p:cNvPr>
          <p:cNvSpPr txBox="1"/>
          <p:nvPr/>
        </p:nvSpPr>
        <p:spPr>
          <a:xfrm>
            <a:off x="1504950" y="3402806"/>
            <a:ext cx="91821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sz="1950" b="0" i="0" u="none" dirty="0" err="1">
                <a:solidFill>
                  <a:srgbClr val="64748B"/>
                </a:solidFill>
                <a:latin typeface="Montserrat Light"/>
              </a:rPr>
              <a:t>Optimización</a:t>
            </a:r>
            <a:r>
              <a:rPr sz="1950" b="0" i="0" u="none" dirty="0">
                <a:solidFill>
                  <a:srgbClr val="64748B"/>
                </a:solidFill>
                <a:latin typeface="Montserrat Light"/>
              </a:rPr>
              <a:t> de </a:t>
            </a:r>
            <a:r>
              <a:rPr sz="1950" b="0" i="0" u="none" dirty="0" err="1">
                <a:solidFill>
                  <a:srgbClr val="64748B"/>
                </a:solidFill>
                <a:latin typeface="Montserrat Light"/>
              </a:rPr>
              <a:t>demanda</a:t>
            </a:r>
            <a:r>
              <a:rPr sz="1950" b="0" i="0" u="none" dirty="0">
                <a:solidFill>
                  <a:srgbClr val="64748B"/>
                </a:solidFill>
                <a:latin typeface="Montserrat Light"/>
              </a:rPr>
              <a:t> </a:t>
            </a:r>
            <a:r>
              <a:rPr sz="1950" b="0" i="0" u="none" dirty="0" err="1">
                <a:solidFill>
                  <a:srgbClr val="64748B"/>
                </a:solidFill>
                <a:latin typeface="Montserrat Light"/>
              </a:rPr>
              <a:t>por</a:t>
            </a:r>
            <a:r>
              <a:rPr sz="1950" b="0" i="0" u="none" dirty="0">
                <a:solidFill>
                  <a:srgbClr val="64748B"/>
                </a:solidFill>
                <a:latin typeface="Montserrat Light"/>
              </a:rPr>
              <a:t> </a:t>
            </a:r>
            <a:r>
              <a:rPr sz="1950" b="0" i="0" u="none" dirty="0" err="1">
                <a:solidFill>
                  <a:srgbClr val="64748B"/>
                </a:solidFill>
                <a:latin typeface="Montserrat Light"/>
              </a:rPr>
              <a:t>tramo</a:t>
            </a:r>
            <a:r>
              <a:rPr sz="1950" b="0" i="0" u="none" dirty="0">
                <a:solidFill>
                  <a:srgbClr val="64748B"/>
                </a:solidFill>
                <a:latin typeface="Montserrat Light"/>
              </a:rPr>
              <a:t> </a:t>
            </a:r>
            <a:r>
              <a:rPr sz="1950" b="0" i="0" u="none" dirty="0" err="1">
                <a:solidFill>
                  <a:srgbClr val="64748B"/>
                </a:solidFill>
                <a:latin typeface="Montserrat Light"/>
              </a:rPr>
              <a:t>horario</a:t>
            </a:r>
            <a:r>
              <a:rPr sz="1950" b="0" i="0" u="none" dirty="0">
                <a:solidFill>
                  <a:srgbClr val="64748B"/>
                </a:solidFill>
                <a:latin typeface="Montserrat Light"/>
              </a:rPr>
              <a:t> </a:t>
            </a:r>
            <a:r>
              <a:rPr sz="1950" b="0" i="0" u="none" dirty="0" err="1">
                <a:solidFill>
                  <a:srgbClr val="64748B"/>
                </a:solidFill>
                <a:latin typeface="Montserrat Light"/>
              </a:rPr>
              <a:t>mediante</a:t>
            </a:r>
            <a:r>
              <a:rPr sz="1950" b="0" i="0" u="none" dirty="0">
                <a:solidFill>
                  <a:srgbClr val="64748B"/>
                </a:solidFill>
                <a:latin typeface="Montserrat Light"/>
              </a:rPr>
              <a:t> Machine Learning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8953DD-B438-62A4-7193-02539919DE1E}"/>
              </a:ext>
            </a:extLst>
          </p:cNvPr>
          <p:cNvSpPr/>
          <p:nvPr/>
        </p:nvSpPr>
        <p:spPr>
          <a:xfrm>
            <a:off x="5619750" y="4498181"/>
            <a:ext cx="952500" cy="3810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48C26E-D8B8-9EF1-D75F-C430DAE6F28E}"/>
              </a:ext>
            </a:extLst>
          </p:cNvPr>
          <p:cNvSpPr txBox="1"/>
          <p:nvPr/>
        </p:nvSpPr>
        <p:spPr>
          <a:xfrm>
            <a:off x="4800600" y="4822031"/>
            <a:ext cx="2590800" cy="1055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lang="es-ES" sz="1425" b="1" dirty="0">
                <a:solidFill>
                  <a:srgbClr val="334155"/>
                </a:solidFill>
                <a:latin typeface="Montserrat"/>
              </a:rPr>
              <a:t>M003 – Data </a:t>
            </a:r>
            <a:r>
              <a:rPr lang="es-ES" sz="1425" b="1" dirty="0" err="1">
                <a:solidFill>
                  <a:srgbClr val="334155"/>
                </a:solidFill>
                <a:latin typeface="Montserrat"/>
              </a:rPr>
              <a:t>Science</a:t>
            </a:r>
            <a:r>
              <a:rPr lang="es-ES" sz="1425" b="1" dirty="0">
                <a:solidFill>
                  <a:srgbClr val="334155"/>
                </a:solidFill>
                <a:latin typeface="Montserrat"/>
              </a:rPr>
              <a:t> &amp; IA</a:t>
            </a:r>
          </a:p>
          <a:p>
            <a:pPr algn="ctr">
              <a:lnSpc>
                <a:spcPts val="2137"/>
              </a:lnSpc>
            </a:pPr>
            <a:r>
              <a:rPr lang="es-ES" sz="1425" b="1" i="0" u="none" dirty="0">
                <a:solidFill>
                  <a:srgbClr val="334155"/>
                </a:solidFill>
                <a:latin typeface="Montserrat"/>
              </a:rPr>
              <a:t>Emilio Garrote</a:t>
            </a:r>
          </a:p>
          <a:p>
            <a:pPr algn="ctr">
              <a:lnSpc>
                <a:spcPts val="2137"/>
              </a:lnSpc>
            </a:pPr>
            <a:r>
              <a:rPr lang="es-ES" sz="1425" b="1" dirty="0">
                <a:solidFill>
                  <a:srgbClr val="334155"/>
                </a:solidFill>
                <a:latin typeface="Montserrat"/>
              </a:rPr>
              <a:t>Miguel Coxon</a:t>
            </a:r>
          </a:p>
          <a:p>
            <a:pPr algn="ctr">
              <a:lnSpc>
                <a:spcPts val="2137"/>
              </a:lnSpc>
            </a:pPr>
            <a:r>
              <a:rPr lang="es-ES" sz="1425" b="1" i="0" u="none" dirty="0">
                <a:solidFill>
                  <a:srgbClr val="334155"/>
                </a:solidFill>
                <a:latin typeface="Montserrat"/>
              </a:rPr>
              <a:t>Lola Real</a:t>
            </a:r>
            <a:endParaRPr sz="1425" b="1" i="0" u="none" dirty="0">
              <a:solidFill>
                <a:srgbClr val="334155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2707062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180</TotalTime>
  <Words>957</Words>
  <Application>Microsoft Office PowerPoint</Application>
  <PresentationFormat>Widescreen</PresentationFormat>
  <Paragraphs>132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Calibri</vt:lpstr>
      <vt:lpstr>Century Gothic</vt:lpstr>
      <vt:lpstr>Montserrat</vt:lpstr>
      <vt:lpstr>Montserrat Light</vt:lpstr>
      <vt:lpstr>Playfair Display</vt:lpstr>
      <vt:lpstr>Urbanist</vt:lpstr>
      <vt:lpstr>Urbanist SemiBold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Lola Real</dc:creator>
  <cp:keywords/>
  <dc:description>generated using python-pptx</dc:description>
  <cp:lastModifiedBy>Miguel Coxon</cp:lastModifiedBy>
  <cp:revision>5</cp:revision>
  <dcterms:created xsi:type="dcterms:W3CDTF">2013-01-27T09:14:16Z</dcterms:created>
  <dcterms:modified xsi:type="dcterms:W3CDTF">2026-07-15T17:42:44Z</dcterms:modified>
  <cp:category/>
</cp:coreProperties>
</file>